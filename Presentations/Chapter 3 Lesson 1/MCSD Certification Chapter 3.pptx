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5" r:id="rId6"/>
    <p:sldId id="266" r:id="rId7"/>
    <p:sldId id="283" r:id="rId8"/>
    <p:sldId id="268" r:id="rId9"/>
    <p:sldId id="282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80" r:id="rId20"/>
    <p:sldId id="277" r:id="rId21"/>
    <p:sldId id="279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5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6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9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9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1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8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9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6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BE42A-EC51-4A27-8C5E-56E9DE15CC2F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5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35829"/>
          </a:xfrm>
        </p:spPr>
        <p:txBody>
          <a:bodyPr/>
          <a:lstStyle/>
          <a:p>
            <a:r>
              <a:rPr lang="en-US" dirty="0" smtClean="0"/>
              <a:t>MCSD Certification Toolkit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Chapter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332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 </a:t>
            </a:r>
            <a:r>
              <a:rPr lang="en-US" dirty="0" smtClean="0"/>
              <a:t>types in C#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187532"/>
            <a:ext cx="11305416" cy="538626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59" y="1585138"/>
            <a:ext cx="84010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538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Understanding Pre-defined Value Types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3" y="1202724"/>
            <a:ext cx="11549449" cy="558525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Simple intrinsic types, each type having a corresponding type in </a:t>
            </a:r>
            <a:r>
              <a:rPr lang="en-US" dirty="0" err="1" smtClean="0"/>
              <a:t>.Net</a:t>
            </a: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552121"/>
              </p:ext>
            </p:extLst>
          </p:nvPr>
        </p:nvGraphicFramePr>
        <p:xfrm>
          <a:off x="630072" y="1851454"/>
          <a:ext cx="44450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8340">
                  <a:extLst>
                    <a:ext uri="{9D8B030D-6E8A-4147-A177-3AD203B41FA5}">
                      <a16:colId xmlns:a16="http://schemas.microsoft.com/office/drawing/2014/main" val="586354196"/>
                    </a:ext>
                  </a:extLst>
                </a:gridCol>
                <a:gridCol w="2436660">
                  <a:extLst>
                    <a:ext uri="{9D8B030D-6E8A-4147-A177-3AD203B41FA5}">
                      <a16:colId xmlns:a16="http://schemas.microsoft.com/office/drawing/2014/main" val="103989741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Value Type (Alias)</a:t>
                      </a:r>
                      <a:endParaRPr lang="en-US" sz="1100" b="0" i="0" u="none" strike="noStrike" dirty="0">
                        <a:solidFill>
                          <a:srgbClr val="9C65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.Net</a:t>
                      </a:r>
                      <a:r>
                        <a:rPr lang="en-US" sz="1100" u="none" strike="noStrike" dirty="0">
                          <a:effectLst/>
                        </a:rPr>
                        <a:t> Type</a:t>
                      </a:r>
                      <a:endParaRPr lang="en-US" sz="1100" b="0" i="0" u="none" strike="noStrike" dirty="0">
                        <a:solidFill>
                          <a:srgbClr val="9C65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71102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System.Boolean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6120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System.Byte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71804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char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System.Char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96477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float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System.Single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77442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System.Int32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9501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System.Int64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84471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enum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System.Enum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6142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940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Boxing Value Types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3" y="1202724"/>
            <a:ext cx="11549449" cy="5585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123;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en-US" dirty="0" smtClean="0"/>
              <a:t>‘Boxing’ a value type</a:t>
            </a:r>
          </a:p>
          <a:p>
            <a:pPr marL="0" indent="0">
              <a:buNone/>
            </a:pPr>
            <a:r>
              <a:rPr lang="en-US" dirty="0" err="1" smtClean="0"/>
              <a:t>System.Object</a:t>
            </a:r>
            <a:r>
              <a:rPr lang="en-US" dirty="0" smtClean="0"/>
              <a:t> o =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// Unboxing a </a:t>
            </a:r>
            <a:r>
              <a:rPr lang="en-US" dirty="0" smtClean="0"/>
              <a:t>value type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j </a:t>
            </a:r>
            <a:r>
              <a:rPr lang="en-US" dirty="0"/>
              <a:t>= 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)o;	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008" y="1295399"/>
            <a:ext cx="2809875" cy="2019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08" y="3854149"/>
            <a:ext cx="28003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148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 types in C# - Assignment of numeric type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5165124" cy="514864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myValue1 = 20;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myValue2 = myValue1;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5449453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244" y="1425146"/>
            <a:ext cx="5238095" cy="9809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244" y="3773583"/>
            <a:ext cx="5238095" cy="1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05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 types in C# - Assignment of </a:t>
            </a:r>
            <a:r>
              <a:rPr lang="en-US" dirty="0" err="1" smtClean="0"/>
              <a:t>struct</a:t>
            </a:r>
            <a:r>
              <a:rPr lang="en-US" dirty="0" smtClean="0"/>
              <a:t> type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9110" y="3064475"/>
            <a:ext cx="5449453" cy="36986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321276" y="1228136"/>
            <a:ext cx="5165124" cy="51891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truct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Student</a:t>
            </a:r>
          </a:p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Student(string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studentFirst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Student(“Manny”, “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Pacquiao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”);</a:t>
            </a: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studentSecond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studentFirst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studentFirst.firstName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“Emmanuel”;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111" y="1107990"/>
            <a:ext cx="5449453" cy="1767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371" y="5048836"/>
            <a:ext cx="3933333" cy="171428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371" y="2692698"/>
            <a:ext cx="3933333" cy="171428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371" y="1107990"/>
            <a:ext cx="3933333" cy="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902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Reference types in C#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5165124" cy="514864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Display </a:t>
            </a:r>
            <a:r>
              <a:rPr lang="en-US" dirty="0" err="1" smtClean="0"/>
              <a:t>myDisplay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FF0000"/>
                </a:solidFill>
              </a:rPr>
              <a:t>new</a:t>
            </a:r>
            <a:r>
              <a:rPr lang="en-US" dirty="0" smtClean="0"/>
              <a:t> Display();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Display myDisplay2 = </a:t>
            </a:r>
            <a:r>
              <a:rPr lang="en-US" dirty="0" err="1" smtClean="0"/>
              <a:t>myDisplay</a:t>
            </a:r>
            <a:r>
              <a:rPr lang="en-US" dirty="0" smtClean="0"/>
              <a:t>;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5449453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396" y="1351755"/>
            <a:ext cx="5238095" cy="16857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395" y="3689913"/>
            <a:ext cx="5238095" cy="2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913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Working with Enumerations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4961175" cy="5148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Enumeration</a:t>
            </a:r>
            <a:r>
              <a:rPr lang="en-US" sz="1200" dirty="0"/>
              <a:t> – A distinct type that consists of a set of named constants called the enumerator </a:t>
            </a:r>
            <a:r>
              <a:rPr lang="en-US" sz="1200" dirty="0" smtClean="0"/>
              <a:t>list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b="1" dirty="0" smtClean="0"/>
              <a:t>Declaration</a:t>
            </a:r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Months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byte </a:t>
            </a:r>
            <a:endParaRPr lang="en-US" sz="12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January=1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February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March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April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December </a:t>
            </a: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Usage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Months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myMonth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Months.January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Constants start at 0 and increment by 1 (default), but can be assigned values</a:t>
            </a:r>
          </a:p>
          <a:p>
            <a:pPr>
              <a:buFont typeface="+mj-lt"/>
              <a:buAutoNum type="arabicPeriod"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type is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by default, but can be set to byte, short,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or long (or unsigned versions of the same)</a:t>
            </a:r>
          </a:p>
          <a:p>
            <a:pPr>
              <a:buFont typeface="+mj-lt"/>
              <a:buAutoNum type="arabicPeriod"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Enumerations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can be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modified using ‘++’ or ‘--’,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but cannot be assigned an integer value</a:t>
            </a:r>
          </a:p>
        </p:txBody>
      </p:sp>
    </p:spTree>
    <p:extLst>
      <p:ext uri="{BB962C8B-B14F-4D97-AF65-F5344CB8AC3E}">
        <p14:creationId xmlns:p14="http://schemas.microsoft.com/office/powerpoint/2010/main" val="1024081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Creating Reference Types (classes)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087396"/>
            <a:ext cx="1146707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constructor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Constructor 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Student(string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="Political Science")</a:t>
            </a: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public method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SetTestScore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testNumber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testScore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Visibility defaults to ‘private’ if not specified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double[]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testScores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new double[10];</a:t>
            </a:r>
          </a:p>
          <a:p>
            <a:pPr marL="457200" lvl="1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private double GPA;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9369" y="997528"/>
            <a:ext cx="11516995" cy="54494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49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– class ‘Animal’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087396"/>
            <a:ext cx="1146707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constructor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Animal() 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public method – Visible to all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Speak()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protected method – Visible to class method and methods in derived classes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protected string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WhatAmI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private variable – Visible only to methods inside </a:t>
            </a: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private double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zooPrice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3654" y="997528"/>
            <a:ext cx="11467070" cy="52924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351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– class ‘Animal’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70" y="1612596"/>
            <a:ext cx="5685714" cy="4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662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197708"/>
            <a:ext cx="11094431" cy="6680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Animal derivation example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997529"/>
            <a:ext cx="3035767" cy="55762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36" y="1170147"/>
            <a:ext cx="2924432" cy="5231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Mammal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Reptile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Amphibian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673954" y="997529"/>
            <a:ext cx="2487950" cy="55762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456466" y="1104246"/>
            <a:ext cx="2366380" cy="5231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Snake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Reptile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96559" y="997528"/>
            <a:ext cx="2487950" cy="55762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119164" y="997528"/>
            <a:ext cx="2613454" cy="55762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734739" y="1104245"/>
            <a:ext cx="2366380" cy="5231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Tiger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Mammal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Human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Mammal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9176951" y="1104245"/>
            <a:ext cx="2494882" cy="5231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Frog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Amphibian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614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Animal derivation visualization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685" y="1512587"/>
            <a:ext cx="6201807" cy="47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925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/>
              <a:t>C</a:t>
            </a:r>
            <a:r>
              <a:rPr lang="en-US" dirty="0" smtClean="0"/>
              <a:t>ommonly used modifiers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2307763"/>
              </p:ext>
            </p:extLst>
          </p:nvPr>
        </p:nvGraphicFramePr>
        <p:xfrm>
          <a:off x="259369" y="1178010"/>
          <a:ext cx="5880099" cy="5130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065">
                  <a:extLst>
                    <a:ext uri="{9D8B030D-6E8A-4147-A177-3AD203B41FA5}">
                      <a16:colId xmlns:a16="http://schemas.microsoft.com/office/drawing/2014/main" val="140518302"/>
                    </a:ext>
                  </a:extLst>
                </a:gridCol>
                <a:gridCol w="3071741">
                  <a:extLst>
                    <a:ext uri="{9D8B030D-6E8A-4147-A177-3AD203B41FA5}">
                      <a16:colId xmlns:a16="http://schemas.microsoft.com/office/drawing/2014/main" val="2425902819"/>
                    </a:ext>
                  </a:extLst>
                </a:gridCol>
                <a:gridCol w="1818293">
                  <a:extLst>
                    <a:ext uri="{9D8B030D-6E8A-4147-A177-3AD203B41FA5}">
                      <a16:colId xmlns:a16="http://schemas.microsoft.com/office/drawing/2014/main" val="1970854675"/>
                    </a:ext>
                  </a:extLst>
                </a:gridCol>
              </a:tblGrid>
              <a:tr h="1557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Modifier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Description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Type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4701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public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Access is allowed anywhere inside or outside the class body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Access modifier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691223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protected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Access is allowed anywhere inside the class body or inside a derived class body. Access is NOT allowed outside the class or derived class.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Access modifier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026503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private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Access is allowed anywhere inside the class body only. Access is NOT allowed inside a derived class body or outside the class or derived class.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Access modifier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44755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abstract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class: Class cannot be instantiated directly;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method: Method must be defined in derived class;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Modifies class or method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643917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virtual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Indicates that class functionality may be </a:t>
                      </a:r>
                      <a:r>
                        <a:rPr lang="en-US" sz="1100" u="none" strike="noStrike" dirty="0" err="1">
                          <a:effectLst/>
                        </a:rPr>
                        <a:t>overriden</a:t>
                      </a:r>
                      <a:r>
                        <a:rPr lang="en-US" sz="1100" u="none" strike="noStrike" dirty="0">
                          <a:effectLst/>
                        </a:rPr>
                        <a:t> in derived class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Modifies method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79094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override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Indicates that method overrides base class definition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Modifies method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443846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readonly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Indicates that member variable can be given a value when it is declared or in the class constructor. Once the class constructor has </a:t>
                      </a:r>
                      <a:r>
                        <a:rPr lang="en-US" sz="1100" u="none" strike="noStrike" dirty="0" smtClean="0">
                          <a:effectLst/>
                        </a:rPr>
                        <a:t>executed, </a:t>
                      </a:r>
                      <a:r>
                        <a:rPr lang="en-US" sz="1100" u="none" strike="noStrike" dirty="0">
                          <a:effectLst/>
                        </a:rPr>
                        <a:t>its value cannot be changed.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Modifies </a:t>
                      </a:r>
                      <a:r>
                        <a:rPr lang="en-US" sz="1100" u="none" strike="noStrike" dirty="0">
                          <a:effectLst/>
                        </a:rPr>
                        <a:t>member variable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974988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static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Indicates that method or member variable is associated with the class, and not a single class instance. Reference is made my giving the class name, followed by a </a:t>
                      </a:r>
                      <a:r>
                        <a:rPr lang="en-US" sz="1100" u="none" strike="noStrike" dirty="0" smtClean="0">
                          <a:effectLst/>
                        </a:rPr>
                        <a:t>‘.', </a:t>
                      </a:r>
                      <a:r>
                        <a:rPr lang="en-US" sz="1100" u="none" strike="noStrike" dirty="0">
                          <a:effectLst/>
                        </a:rPr>
                        <a:t>and then the static variable or </a:t>
                      </a:r>
                      <a:r>
                        <a:rPr lang="en-US" sz="1100" u="none" strike="noStrike" dirty="0" smtClean="0">
                          <a:effectLst/>
                        </a:rPr>
                        <a:t>method name,</a:t>
                      </a:r>
                      <a:r>
                        <a:rPr lang="en-US" sz="1100" u="none" strike="noStrike" baseline="0" dirty="0" smtClean="0">
                          <a:effectLst/>
                        </a:rPr>
                        <a:t> i.e. </a:t>
                      </a:r>
                      <a:r>
                        <a:rPr lang="en-US" sz="1100" u="none" strike="noStrike" baseline="0" dirty="0" err="1" smtClean="0">
                          <a:effectLst/>
                        </a:rPr>
                        <a:t>Student.studentCount</a:t>
                      </a:r>
                      <a:r>
                        <a:rPr lang="en-US" sz="1100" u="none" strike="noStrike" baseline="0" dirty="0" smtClean="0">
                          <a:effectLst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Modifies class or method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1468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8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247800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0510231" cy="5469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</a:t>
            </a:r>
          </a:p>
          <a:p>
            <a:pPr marL="0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string course;</a:t>
            </a:r>
          </a:p>
          <a:p>
            <a:pPr marL="457200" lvl="1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constructor</a:t>
            </a:r>
          </a:p>
          <a:p>
            <a:pPr marL="457200" lvl="1" indent="0">
              <a:buNone/>
            </a:pP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C# will implement one if none is provided</a:t>
            </a:r>
            <a:endParaRPr lang="en-US" sz="1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Student()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Notice that there is no return type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Student(string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="Political Science")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course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964" y="997528"/>
            <a:ext cx="11730181" cy="572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947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247800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constructors,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1470813" cy="5469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HighSchoolStudent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Student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Calling base class constructor from derived class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HighSchoolStudent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bool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p_IsCheerLeader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base(</a:t>
            </a:r>
            <a:r>
              <a:rPr lang="en-US" sz="10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	// Call base class constructor</a:t>
            </a:r>
            <a:endParaRPr lang="en-US" sz="1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IsCheerLeader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p_IsCheerLeader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IsCheerLeader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964" y="997528"/>
            <a:ext cx="11730181" cy="572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584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118572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0510231" cy="54699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[Access Modifier] [Method Modifier] &lt;Return Type&gt; &lt;Method Name&gt; ([Method Parameters])</a:t>
            </a: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[Body of Method]</a:t>
            </a: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9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class Student</a:t>
            </a: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double </a:t>
            </a:r>
            <a:r>
              <a:rPr lang="en-US" sz="9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GetAverageScores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Method override, same name, different parameters (different ‘signature’)</a:t>
            </a: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double </a:t>
            </a:r>
            <a:r>
              <a:rPr lang="en-US" sz="9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GetAverageScores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(double[] Scores)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Method </a:t>
            </a:r>
            <a:r>
              <a:rPr lang="en-US" sz="9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be overridden in derived class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virtual double </a:t>
            </a:r>
            <a:r>
              <a:rPr lang="en-US" sz="9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Abstract method has no implementation and </a:t>
            </a:r>
            <a:r>
              <a:rPr lang="en-US" sz="9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must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be overridden in derived class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Only an abstract class can contain abstract methods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</a:t>
            </a:r>
            <a:r>
              <a:rPr lang="en-US" sz="9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string </a:t>
            </a:r>
            <a:r>
              <a:rPr lang="en-US" sz="9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GetAdvisorName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3964" y="858982"/>
            <a:ext cx="11767127" cy="58650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2582" y="2170549"/>
            <a:ext cx="10141527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87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118572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Methods,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1498522" cy="525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HighSchoolStudent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Student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HighSchoolStudent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GPA, bool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isOnTrackTeam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 base(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GPA)</a:t>
            </a:r>
          </a:p>
          <a:p>
            <a:pPr marL="457200" lvl="1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IsOnTrackTeam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isOnTrackTeam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Implements required method ‘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ShowDetails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override void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ShowDetails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CollegeStudent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Student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Implements required method ‘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ShowDetails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override void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ShowDetails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Implements optional override ‘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SayHello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override void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SayHello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964" y="997528"/>
            <a:ext cx="11767127" cy="54863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72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118572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Methods – Optional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1498522" cy="525474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Person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SaySomething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(string Name, string Greeting=“Hello”)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MessageBox.Show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(Greeting + “ “ + Name);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Person person1 = new Person();</a:t>
            </a: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person1.SaySomething(“Henry”);		// “Hello Henry”</a:t>
            </a: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person1.SaySomething(“Catriona”, “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Kumusta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”);	// “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Kumusta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Catriona”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b="1" dirty="0" smtClean="0">
                <a:latin typeface="+mj-lt"/>
                <a:cs typeface="Courier New" panose="02070309020205020404" pitchFamily="49" charset="0"/>
              </a:rPr>
              <a:t>NOTE: Optional parameters are </a:t>
            </a:r>
            <a:r>
              <a:rPr lang="en-US" sz="1400" b="1" i="1" u="sng" dirty="0" smtClean="0">
                <a:latin typeface="+mj-lt"/>
                <a:cs typeface="Courier New" panose="02070309020205020404" pitchFamily="49" charset="0"/>
              </a:rPr>
              <a:t>always last</a:t>
            </a:r>
            <a:endParaRPr lang="en-US" sz="1400" b="1" i="1" u="sng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3964" y="868218"/>
            <a:ext cx="11767127" cy="56157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60928" y="3214717"/>
            <a:ext cx="110928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9369" y="4678680"/>
            <a:ext cx="110928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628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D0DBF78E7573498E57FF5AEF12177C" ma:contentTypeVersion="8" ma:contentTypeDescription="Create a new document." ma:contentTypeScope="" ma:versionID="d1bdaccba5bec0ade9dcacd043ad0a6c">
  <xsd:schema xmlns:xsd="http://www.w3.org/2001/XMLSchema" xmlns:xs="http://www.w3.org/2001/XMLSchema" xmlns:p="http://schemas.microsoft.com/office/2006/metadata/properties" xmlns:ns2="697714b7-1f72-4f8d-a841-76860ca5a7cc" xmlns:ns3="0c7b88d9-e746-476a-9481-c5b43b24eb14" targetNamespace="http://schemas.microsoft.com/office/2006/metadata/properties" ma:root="true" ma:fieldsID="da38ff6c689819270a94955410054538" ns2:_="" ns3:_="">
    <xsd:import namespace="697714b7-1f72-4f8d-a841-76860ca5a7cc"/>
    <xsd:import namespace="0c7b88d9-e746-476a-9481-c5b43b24eb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7714b7-1f72-4f8d-a841-76860ca5a7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7b88d9-e746-476a-9481-c5b43b24eb1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C1BA97-8BD1-432D-BA53-41A4FBD954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7714b7-1f72-4f8d-a841-76860ca5a7cc"/>
    <ds:schemaRef ds:uri="0c7b88d9-e746-476a-9481-c5b43b24eb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5DDEF6-D054-4FBC-B9BD-1DA60AC8242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2A425B5-C471-44AF-9D4A-7BF4EBF8F4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2385</TotalTime>
  <Words>1092</Words>
  <Application>Microsoft Office PowerPoint</Application>
  <PresentationFormat>Widescreen</PresentationFormat>
  <Paragraphs>312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MCSD Certification Toolkit</vt:lpstr>
      <vt:lpstr>Value types in C#</vt:lpstr>
      <vt:lpstr>Understanding Pre-defined Value Types</vt:lpstr>
      <vt:lpstr>Boxing Value Types</vt:lpstr>
      <vt:lpstr>Value types in C# - Assignment of numeric type</vt:lpstr>
      <vt:lpstr>Value types in C# - Assignment of struct type</vt:lpstr>
      <vt:lpstr>Reference types in C#</vt:lpstr>
      <vt:lpstr>Working with Enumerations</vt:lpstr>
      <vt:lpstr>Creating Reference Types (classes)</vt:lpstr>
      <vt:lpstr>Example – class ‘Animal’</vt:lpstr>
      <vt:lpstr>Example – class ‘Animal’</vt:lpstr>
      <vt:lpstr>Animal derivation example</vt:lpstr>
      <vt:lpstr>Animal derivation visualization</vt:lpstr>
      <vt:lpstr>Commonly used modifiers</vt:lpstr>
      <vt:lpstr>Defining constructors</vt:lpstr>
      <vt:lpstr>Defining constructors, continued</vt:lpstr>
      <vt:lpstr>Defining Methods</vt:lpstr>
      <vt:lpstr>Defining Methods, continued</vt:lpstr>
      <vt:lpstr>Methods – Optional Parameters</vt:lpstr>
    </vt:vector>
  </TitlesOfParts>
  <Company>Deltek.com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MCSD Certification Toolkit</dc:title>
  <dc:creator>Jeff Armstrong</dc:creator>
  <cp:lastModifiedBy>Jeff Armstrong</cp:lastModifiedBy>
  <cp:revision>99</cp:revision>
  <dcterms:created xsi:type="dcterms:W3CDTF">2021-10-07T04:30:28Z</dcterms:created>
  <dcterms:modified xsi:type="dcterms:W3CDTF">2021-11-15T22:37:10Z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0x010100A0D0DBF78E7573498E57FF5AEF12177C</vt:lpwstr>
  </property>
</Properties>
</file>